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8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23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9391F"/>
          </a:solidFill>
          <a:ln w="12700">
            <a:solidFill>
              <a:srgbClr val="0939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164592" cy="2926080"/>
          </a:xfrm>
          <a:prstGeom prst="rect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572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web framework for perfectionists with deadlines"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წარმოდგენა Python-ის ვებ-ფრეიმვორქის შესახებ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რა არის Django?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09728" cy="914400"/>
          </a:xfrm>
          <a:prstGeom prst="rect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52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ვებ-ფრეიმვორქი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არის Python-ზე დაფუძნებული, მაღალი დონის ვებ-ფრეიმვორქი, რომელიც უზრუნველყოფს სწრაფ და უსაფრთხო განვითარებას.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86000"/>
            <a:ext cx="109728" cy="914400"/>
          </a:xfrm>
          <a:prstGeom prst="rect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შექმნილია 2003 წელს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შეიქმნა Lawrence Journal-World გაზეთის რედაქციაში Adrian Holovaty-სა და Simon Willison-ის მიერ.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3931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383280"/>
            <a:ext cx="109728" cy="914400"/>
          </a:xfrm>
          <a:prstGeom prst="rect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47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ღია კოდი (Open Source)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749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გამოქვეყნდა 2005 წელს BSD ლიცენზიით და მართავს Django Software Foundation.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023360" cy="3108960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ვინ იყენებს Django-ს?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00600" y="187452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187452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Pinterest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3774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237744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377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88036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Bitbucket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288036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Post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3832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20840" y="3383280"/>
            <a:ext cx="1783080" cy="365760"/>
          </a:xfrm>
          <a:prstGeom prst="roundRect">
            <a:avLst>
              <a:gd name="adj" fmla="val 12500"/>
            </a:avLst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3383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Django-ს მახასიათებლები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9728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Included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ყველა საჭირო ინსტრუმენტი ჩაშენებულია: ადმინ პანელი, ავთენტიფიკაცია, ORM, ფორმები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114800" cy="109728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9496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(Object-Relational Mapper)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94960" y="15544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მონაცემთა ბაზასთან მუშაობა Python-ის ობიექტების საშუალებით, SQL-ის ცოდნის გარეშე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114800" cy="109728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უსაფრთხოება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ჩაშენებული დაცვა CSRF, XSS, SQL Injection და სხვა შეტევებისგან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377440"/>
            <a:ext cx="4114800" cy="109728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9496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Apps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278892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მოდულური არქიტექტურა — შეიძლება აპლიკაციების ხელახლა გამოყენება სხვა პროექტებში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114800" cy="109728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703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სკალირებადობა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023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Instagram-ი მილიარდობით მომხმარებლს ემსახურება Django-ს საფუძველზე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114800" cy="109728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94960" y="3703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დოკუმენტაცია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4023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ერთ-ერთი საუკეთესოდ დოკუმენტირებული ფრეიმვორქი Python-ის სამყაროში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MVT არქიტექტურა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View — Template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697480" cy="3200400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1762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მოდელი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2514600" cy="2084832"/>
          </a:xfrm>
          <a:prstGeom prst="rect">
            <a:avLst/>
          </a:prstGeom>
          <a:solidFill>
            <a:srgbClr val="1A2A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78608"/>
            <a:ext cx="2514600" cy="2084832"/>
          </a:xfrm>
          <a:prstGeom prst="rect">
            <a:avLst/>
          </a:prstGeom>
          <a:solidFill>
            <a:srgbClr val="0A3525"/>
          </a:solidFill>
          <a:ln w="12700">
            <a:solidFill>
              <a:srgbClr val="0A35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33472"/>
            <a:ext cx="24231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განსაზღვრავს მონაცემთა სტრუქტურას. Python კლასები → მონაცემთა ბაზის ცხრილები.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Article(models.Model):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title = CharField()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content = TextField()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71800" y="2697480"/>
            <a:ext cx="457200" cy="73152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600200"/>
            <a:ext cx="2697480" cy="3200400"/>
          </a:xfrm>
          <a:prstGeom prst="rect">
            <a:avLst/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21762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ხედი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578608"/>
            <a:ext cx="2514600" cy="2084832"/>
          </a:xfrm>
          <a:prstGeom prst="rect">
            <a:avLst/>
          </a:prstGeom>
          <a:solidFill>
            <a:srgbClr val="1A2A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2578608"/>
            <a:ext cx="2514600" cy="2084832"/>
          </a:xfrm>
          <a:prstGeom prst="rect">
            <a:avLst/>
          </a:prstGeom>
          <a:solidFill>
            <a:srgbClr val="0A3525"/>
          </a:solidFill>
          <a:ln w="12700">
            <a:solidFill>
              <a:srgbClr val="0A35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633472"/>
            <a:ext cx="24231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ბიზნეს ლოგიკა. იღებს HTTP Request-ს, ამუშავებს და აბრუნებს Response-ს.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article_list(request):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articles = Article.objects.all()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return render(request, ...)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5040" y="2697480"/>
            <a:ext cx="457200" cy="73152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600200"/>
            <a:ext cx="2697480" cy="3200400"/>
          </a:xfrm>
          <a:prstGeom prst="rect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21762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შაბლონი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2578608"/>
            <a:ext cx="2514600" cy="2084832"/>
          </a:xfrm>
          <a:prstGeom prst="rect">
            <a:avLst/>
          </a:prstGeom>
          <a:solidFill>
            <a:srgbClr val="1A2A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2578608"/>
            <a:ext cx="2514600" cy="2084832"/>
          </a:xfrm>
          <a:prstGeom prst="rect">
            <a:avLst/>
          </a:prstGeom>
          <a:solidFill>
            <a:srgbClr val="3A9070"/>
          </a:solidFill>
          <a:ln w="12700">
            <a:solidFill>
              <a:srgbClr val="0A35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633472"/>
            <a:ext cx="24231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პრეზენტაციის ფენა. HTML + Django Template Language.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article in articles %}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&lt;h2&gt;{{ article.title }}&lt;/h2&gt;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1F"/>
          </a:solidFill>
          <a:ln w="12700">
            <a:solidFill>
              <a:srgbClr val="12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 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Mapper — Python კოდი → SQL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3931920" cy="1691640"/>
          </a:xfrm>
          <a:prstGeom prst="rect">
            <a:avLst/>
          </a:prstGeom>
          <a:solidFill>
            <a:srgbClr val="12121F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3931920" cy="347472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45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მოდელის განსაზღვრა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1109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Book(models.Model):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title = models.CharField(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max_length=200)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author = models.CharField(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max_length=100)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published = models.DateField()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price = models.DecimalField()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3931920" cy="1691640"/>
          </a:xfrm>
          <a:prstGeom prst="rect">
            <a:avLst/>
          </a:prstGeom>
          <a:solidFill>
            <a:srgbClr val="12121F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508760"/>
            <a:ext cx="3931920" cy="347472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45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მოთხოვნები (Queries)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91109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ყველა წიგნი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 = Book.objects.all()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ფილტრი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 = Book.objects.filter(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price__lt=20)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პირველი შედეგი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= Book.objects.get(id=1)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3931920" cy="1508760"/>
          </a:xfrm>
          <a:prstGeom prst="rect">
            <a:avLst/>
          </a:prstGeom>
          <a:solidFill>
            <a:srgbClr val="12121F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37560"/>
            <a:ext cx="3931920" cy="347472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74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ჩამატება და შენახვა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739896"/>
            <a:ext cx="3730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= Book(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title="Django for Beginners",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author="W. S. Vincent",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price=29.99)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book.save()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337560"/>
            <a:ext cx="3931920" cy="1508760"/>
          </a:xfrm>
          <a:prstGeom prst="rect">
            <a:avLst/>
          </a:prstGeom>
          <a:solidFill>
            <a:srgbClr val="12121F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337560"/>
            <a:ext cx="3931920" cy="347472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374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კავშირები (Relations)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739896"/>
            <a:ext cx="3730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Author(models.Model):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name = models.CharField()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Book(models.Model):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author = models.ForeignKey(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Author, on_delete=CASCADE)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 ადმინ პანელი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4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ავტომატური ადმინ ინტერფეისი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4023360" cy="41148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09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ერთი კოდის ხაზით ჩართვა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67128"/>
            <a:ext cx="4023360" cy="41148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CRUD ოპერაციები ავტომატურად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4023360" cy="41148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157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მომხმარებლების მართვა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72968"/>
            <a:ext cx="4023360" cy="41148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18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უფლებების სისტემა (Permissions)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4023360" cy="41148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21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ძებნა და ფილტრაცია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78808"/>
            <a:ext cx="4023360" cy="41148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ჩაშენებული სტატისტიკა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572000"/>
            <a:ext cx="402336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admin.py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django.contrib import admin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Book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admin.site.register(Book)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20624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051560"/>
            <a:ext cx="4206240" cy="502920"/>
          </a:xfrm>
          <a:prstGeom prst="rect">
            <a:avLst/>
          </a:prstGeom>
          <a:solidFill>
            <a:srgbClr val="417690"/>
          </a:solidFill>
          <a:ln w="12700">
            <a:solidFill>
              <a:srgbClr val="4176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15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administration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1143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admin 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1554480"/>
            <a:ext cx="4206240" cy="347472"/>
          </a:xfrm>
          <a:prstGeom prst="rect">
            <a:avLst/>
          </a:prstGeom>
          <a:solidFill>
            <a:srgbClr val="79AEC8"/>
          </a:solidFill>
          <a:ln w="12700">
            <a:solidFill>
              <a:srgbClr val="79AE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609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administration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901952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38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Books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1938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  ✏ Change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4206240" cy="384048"/>
          </a:xfrm>
          <a:prstGeom prst="rect">
            <a:avLst/>
          </a:prstGeom>
          <a:solidFill>
            <a:srgbClr val="F2F7FB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22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Authors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23225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  ✏ Change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670048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06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Categories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270662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  ✏ Change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054096"/>
            <a:ext cx="4206240" cy="384048"/>
          </a:xfrm>
          <a:prstGeom prst="rect">
            <a:avLst/>
          </a:prstGeom>
          <a:solidFill>
            <a:srgbClr val="F2F7FB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090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Users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30906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  ✏ Change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438144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74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1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Groups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3474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  ✏ Change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URL-ები და View-ები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463040"/>
            <a:ext cx="320040" cy="54864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0972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6644"/>
          </a:solidFill>
          <a:ln w="12700">
            <a:solidFill>
              <a:srgbClr val="1A66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Routing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20040" cy="54864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0972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2C7A5E"/>
          </a:solidFill>
          <a:ln w="12700">
            <a:solidFill>
              <a:srgbClr val="2C7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320040" cy="54864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0972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0972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114800" cy="2788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57400"/>
            <a:ext cx="4114800" cy="347472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urls.py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459736"/>
            <a:ext cx="3913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django.urls import path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 import views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path('', views.home, name='home'),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path('books/', views.book_list,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name='book-list'),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path('books/&lt;int:pk&gt;/',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views.book_detail),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057400"/>
            <a:ext cx="4114800" cy="2788920"/>
          </a:xfrm>
          <a:prstGeom prst="rect">
            <a:avLst/>
          </a:prstGeom>
          <a:solidFill>
            <a:srgbClr val="1A1A2E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057400"/>
            <a:ext cx="4114800" cy="347472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views.py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2459736"/>
            <a:ext cx="39136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django.shortcuts import render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.models import Book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book_list(request):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books = Book.objects.all()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render(request,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'books/list.html',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{'books': books})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book_detail(request, pk):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book = Book.objects.get(pk=pk)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render(request,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'books/detail.html',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{'book': book})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 vs სხვა ფრეიმვორქები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560320" cy="457200"/>
          </a:xfrm>
          <a:prstGeom prst="rect">
            <a:avLst/>
          </a:prstGeom>
          <a:solidFill>
            <a:srgbClr val="2A3A2A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მახასიათებელი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1097280"/>
            <a:ext cx="1920240" cy="457200"/>
          </a:xfrm>
          <a:prstGeom prst="rect">
            <a:avLst/>
          </a:prstGeom>
          <a:solidFill>
            <a:srgbClr val="0C4B33"/>
          </a:solidFill>
          <a:ln w="12700">
            <a:solidFill>
              <a:srgbClr val="0C4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1920240" cy="457200"/>
          </a:xfrm>
          <a:prstGeom prst="rect">
            <a:avLst/>
          </a:prstGeom>
          <a:solidFill>
            <a:srgbClr val="4A6B5A"/>
          </a:solidFill>
          <a:ln w="12700">
            <a:solidFill>
              <a:srgbClr val="4A6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12280" y="1097280"/>
            <a:ext cx="1920240" cy="457200"/>
          </a:xfrm>
          <a:prstGeom prst="rect">
            <a:avLst/>
          </a:prstGeom>
          <a:solidFill>
            <a:srgbClr val="2C7A5E"/>
          </a:solidFill>
          <a:ln w="12700">
            <a:solidFill>
              <a:srgbClr val="2C7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1097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256032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59105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ზომა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1554480"/>
            <a:ext cx="192024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3512" y="159105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სრული (Full-Stack)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554480"/>
            <a:ext cx="192024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59105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მინიმალური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1554480"/>
            <a:ext cx="192024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159105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მოდერნული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029968"/>
            <a:ext cx="2560320" cy="475488"/>
          </a:xfrm>
          <a:prstGeom prst="rect">
            <a:avLst/>
          </a:prstGeom>
          <a:solidFill>
            <a:srgbClr val="F4F7F4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06654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სირთულე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80360" y="2029968"/>
            <a:ext cx="192024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3512" y="206654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საშუალო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029968"/>
            <a:ext cx="1920240" cy="475488"/>
          </a:xfrm>
          <a:prstGeom prst="rect">
            <a:avLst/>
          </a:prstGeom>
          <a:solidFill>
            <a:srgbClr val="F4F7F4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06654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დაბალი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2029968"/>
            <a:ext cx="1920240" cy="475488"/>
          </a:xfrm>
          <a:prstGeom prst="rect">
            <a:avLst/>
          </a:prstGeom>
          <a:solidFill>
            <a:srgbClr val="F4F7F4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206654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საშუალო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505456"/>
            <a:ext cx="256032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542032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ადმინ პანელი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80360" y="2505456"/>
            <a:ext cx="192024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25420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ჩაშენებული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505456"/>
            <a:ext cx="192024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5420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არ არის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2505456"/>
            <a:ext cx="192024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25420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არ არის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980944"/>
            <a:ext cx="2560320" cy="475488"/>
          </a:xfrm>
          <a:prstGeom prst="rect">
            <a:avLst/>
          </a:prstGeom>
          <a:solidFill>
            <a:srgbClr val="F4F7F4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01752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80360" y="2980944"/>
            <a:ext cx="192024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53512" y="30175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ჩაშენებული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980944"/>
            <a:ext cx="1920240" cy="475488"/>
          </a:xfrm>
          <a:prstGeom prst="rect">
            <a:avLst/>
          </a:prstGeom>
          <a:solidFill>
            <a:srgbClr val="F4F7F4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0175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გარე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12280" y="2980944"/>
            <a:ext cx="1920240" cy="475488"/>
          </a:xfrm>
          <a:prstGeom prst="rect">
            <a:avLst/>
          </a:prstGeom>
          <a:solidFill>
            <a:srgbClr val="F4F7F4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301752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გარე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456432"/>
            <a:ext cx="256032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49300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მხარდაჭ.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880360" y="3456432"/>
            <a:ext cx="192024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53512" y="34930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Django 4+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3456432"/>
            <a:ext cx="192024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34930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ნაწილობრივ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12280" y="3456432"/>
            <a:ext cx="192024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85432" y="34930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სრული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931920"/>
            <a:ext cx="2560320" cy="475488"/>
          </a:xfrm>
          <a:prstGeom prst="rect">
            <a:avLst/>
          </a:prstGeom>
          <a:solidFill>
            <a:srgbClr val="F4F7F4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968496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სწავლის სიმარტ.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880360" y="3931920"/>
            <a:ext cx="192024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53512" y="396849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46320" y="3931920"/>
            <a:ext cx="1920240" cy="475488"/>
          </a:xfrm>
          <a:prstGeom prst="rect">
            <a:avLst/>
          </a:prstGeom>
          <a:solidFill>
            <a:srgbClr val="F4F7F4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9472" y="396849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12280" y="3931920"/>
            <a:ext cx="1920240" cy="475488"/>
          </a:xfrm>
          <a:prstGeom prst="rect">
            <a:avLst/>
          </a:prstGeom>
          <a:solidFill>
            <a:srgbClr val="F4F7F4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85432" y="396849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407408"/>
            <a:ext cx="256032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443984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გამოყენება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880360" y="4407408"/>
            <a:ext cx="1920240" cy="475488"/>
          </a:xfrm>
          <a:prstGeom prst="rect">
            <a:avLst/>
          </a:prstGeom>
          <a:solidFill>
            <a:srgbClr val="E8F5EE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53512" y="44439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C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დიდი პროექტები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46320" y="4407408"/>
            <a:ext cx="192024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19472" y="44439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მცირე API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12280" y="4407408"/>
            <a:ext cx="1920240" cy="475488"/>
          </a:xfrm>
          <a:prstGeom prst="rect">
            <a:avLst/>
          </a:prstGeom>
          <a:solidFill>
            <a:srgbClr val="F8FCF8"/>
          </a:solidFill>
          <a:ln w="6350">
            <a:solidFill>
              <a:srgbClr val="D1E8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85432" y="44439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მიკრო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1F"/>
          </a:solidFill>
          <a:ln w="12700">
            <a:solidFill>
              <a:srgbClr val="12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 პროექტის სტრუქტურა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749040"/>
          </a:xfrm>
          <a:prstGeom prst="rect">
            <a:avLst/>
          </a:prstGeom>
          <a:solidFill>
            <a:srgbClr val="12121F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347472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33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პროექტის სტრუქტურა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08760"/>
            <a:ext cx="374904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myproject/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manage.py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myproject/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settings.py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urls.py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wsgi.py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myapp/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views.py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urls.py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admin.py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migrations/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myapp/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static/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97280"/>
            <a:ext cx="4206240" cy="548640"/>
          </a:xfrm>
          <a:prstGeom prst="rect">
            <a:avLst/>
          </a:prstGeom>
          <a:solidFill>
            <a:srgbClr val="1A2A22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133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settings.py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81728" y="1344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პროექტის პარამეტრები: მონაცემთა ბაზა, დაინსტალირებული აპები, static ფაილები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709928"/>
            <a:ext cx="4206240" cy="548640"/>
          </a:xfrm>
          <a:prstGeom prst="rect">
            <a:avLst/>
          </a:prstGeom>
          <a:solidFill>
            <a:srgbClr val="1A2A22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7465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🗺️ urls.py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81728" y="19568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URL-ების მარშრუტიზაცია — რომელ URL-ს რომელი view დაამუშავებს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322576"/>
            <a:ext cx="4206240" cy="548640"/>
          </a:xfrm>
          <a:prstGeom prst="rect">
            <a:avLst/>
          </a:prstGeom>
          <a:solidFill>
            <a:srgbClr val="1A2A22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3591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🧩 models.py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1728" y="2569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მონაცემთა სტრუქტურა — Python კლასები, რომლებიც DB-ის ცხრილებად გარდაიქმნება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935224"/>
            <a:ext cx="4206240" cy="548640"/>
          </a:xfrm>
          <a:prstGeom prst="rect">
            <a:avLst/>
          </a:prstGeom>
          <a:solidFill>
            <a:srgbClr val="1A2A22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29718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👁️ views.py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81728" y="3182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ბიზნეს ლოგიკა — request-ის დამუშავება და response-ის გენერაცია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547872"/>
            <a:ext cx="4206240" cy="548640"/>
          </a:xfrm>
          <a:prstGeom prst="rect">
            <a:avLst/>
          </a:prstGeom>
          <a:solidFill>
            <a:srgbClr val="1A2A22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35844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admin.py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3794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ადმინ პანელის კონფიგურაცია — მოდელების რეგისტრაცია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4160520"/>
            <a:ext cx="4206240" cy="548640"/>
          </a:xfrm>
          <a:prstGeom prst="rect">
            <a:avLst/>
          </a:prstGeom>
          <a:solidFill>
            <a:srgbClr val="1A2A22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41970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🔄 migrations/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81728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მონაცემთა ბაზის სქემის ისტორია — ავტომატურად გენერირდება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121F"/>
          </a:solidFill>
          <a:ln w="12700">
            <a:solidFill>
              <a:srgbClr val="1212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Live Demo — Blog პროექტი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12121F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384048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07008"/>
            <a:ext cx="256032" cy="256032"/>
          </a:xfrm>
          <a:prstGeom prst="ellipse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216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— მონაცემთა სტრუქტურა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600200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Post(models.Model):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title = CharField(max_length=200)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content = TextField()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author = CharField(max_length=100)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12252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~20 წამი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12121F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017520"/>
            <a:ext cx="4114800" cy="384048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81528"/>
            <a:ext cx="256032" cy="256032"/>
          </a:xfrm>
          <a:prstGeom prst="ellipse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admin.py — ადმინ პანელი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3474720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@admin.register(Post)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PostAdmin(admin.ModelAdmin):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list_display = ["title","author",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           "created_at"]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309981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~20 წამი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143000"/>
            <a:ext cx="4114800" cy="1737360"/>
          </a:xfrm>
          <a:prstGeom prst="rect">
            <a:avLst/>
          </a:prstGeom>
          <a:solidFill>
            <a:srgbClr val="12121F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143000"/>
            <a:ext cx="4114800" cy="384048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207008"/>
            <a:ext cx="256032" cy="256032"/>
          </a:xfrm>
          <a:prstGeom prst="ellipse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207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1216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views.py — ლოგიკა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1600200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post_list(request):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posts = Post.objects.all()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return render(request,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"blog/list.html",{"posts":posts})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43800" y="12252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~20 წამი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114800" cy="1737360"/>
          </a:xfrm>
          <a:prstGeom prst="rect">
            <a:avLst/>
          </a:prstGeom>
          <a:solidFill>
            <a:srgbClr val="12121F"/>
          </a:solidFill>
          <a:ln w="12700">
            <a:solidFill>
              <a:srgbClr val="2A4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3017520"/>
            <a:ext cx="4114800" cy="384048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081528"/>
            <a:ext cx="256032" cy="256032"/>
          </a:xfrm>
          <a:prstGeom prst="ellipse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urls.py — მარშრუტი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18888" y="3474720"/>
            <a:ext cx="38953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path("", views.post_list),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path("post/&lt;int:pk&gt;/",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     views.post_detail),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8D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309981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~20 წამი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C3026"/>
          </a:solidFill>
          <a:ln w="12700">
            <a:solidFill>
              <a:srgbClr val="0C30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B7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  •  admin: admin / admin123  •  python manage.py runserver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A6644">
              <a:alpha val="70000"/>
            </a:srgbClr>
          </a:solidFill>
          <a:ln w="12700">
            <a:solidFill>
              <a:srgbClr val="1A6644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9391F">
              <a:alpha val="80000"/>
            </a:srgbClr>
          </a:solidFill>
          <a:ln w="12700">
            <a:solidFill>
              <a:srgbClr val="09391F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4B7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რატომ Django?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სწრაფი განვითარება — batteries included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494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უსაფრთხოება ჩაშენებულია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883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ძლიერი კომუნიტი და დოკუმენტაცია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მასშტაბირება — Instagram-დან NASA-მდე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ადმინ პანელი უფასოდ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Python-ის ეკოსისტემა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9391F"/>
          </a:solidFill>
          <a:ln w="12700">
            <a:solidFill>
              <a:srgbClr val="093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B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djangoproject.com  •  docs.djangoproject.com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I Integr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 + AI ინტეგრაცია</a:t>
            </a:r>
          </a:p>
        </p:txBody>
      </p:sp>
      <p:sp>
        <p:nvSpPr>
          <p:cNvPr id="4" name="Card1"/>
          <p:cNvSpPr/>
          <p:nvPr/>
        </p:nvSpPr>
        <p:spPr>
          <a:xfrm>
            <a:off x="365760" y="1143000"/>
            <a:ext cx="4114800" cy="109728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Icon1"/>
          <p:cNvSpPr/>
          <p:nvPr/>
        </p:nvSpPr>
        <p:spPr>
          <a:xfrm>
            <a:off x="50292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</a:p>
        </p:txBody>
      </p:sp>
      <p:sp>
        <p:nvSpPr>
          <p:cNvPr id="6" name="Label1"/>
          <p:cNvSpPr/>
          <p:nvPr/>
        </p:nvSpPr>
        <p:spPr>
          <a:xfrm>
            <a:off x="96012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</a:rPr>
              <a:t>LLM API (OpenAI / Gemini)</a:t>
            </a:r>
          </a:p>
        </p:txBody>
      </p:sp>
      <p:sp>
        <p:nvSpPr>
          <p:cNvPr id="7" name="Desc1"/>
          <p:cNvSpPr/>
          <p:nvPr/>
        </p:nvSpPr>
        <p:spPr>
          <a:xfrm>
            <a:off x="960120" y="15544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</a:rPr>
              <a:t>View-ებიდან პირდაპირ OpenAI / Gemini API-ს გამოძახება — chatbot, ტექსტის გენერაცია</a:t>
            </a:r>
          </a:p>
        </p:txBody>
      </p:sp>
      <p:sp>
        <p:nvSpPr>
          <p:cNvPr id="8" name="Card2"/>
          <p:cNvSpPr/>
          <p:nvPr/>
        </p:nvSpPr>
        <p:spPr>
          <a:xfrm>
            <a:off x="4800600" y="1143000"/>
            <a:ext cx="4114800" cy="109728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Icon2"/>
          <p:cNvSpPr/>
          <p:nvPr/>
        </p:nvSpPr>
        <p:spPr>
          <a:xfrm>
            <a:off x="493776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</a:p>
        </p:txBody>
      </p:sp>
      <p:sp>
        <p:nvSpPr>
          <p:cNvPr id="10" name="Label2"/>
          <p:cNvSpPr/>
          <p:nvPr/>
        </p:nvSpPr>
        <p:spPr>
          <a:xfrm>
            <a:off x="539496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</a:rPr>
              <a:t>Django REST + AI Endpoint</a:t>
            </a:r>
          </a:p>
        </p:txBody>
      </p:sp>
      <p:sp>
        <p:nvSpPr>
          <p:cNvPr id="11" name="Desc2"/>
          <p:cNvSpPr/>
          <p:nvPr/>
        </p:nvSpPr>
        <p:spPr>
          <a:xfrm>
            <a:off x="5394960" y="15544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</a:rPr>
              <a:t>REST API-ს საშუალებით AI მოდელის შედეგები frontend-ზე გადაეცემა JSON ფორმატში</a:t>
            </a:r>
          </a:p>
        </p:txBody>
      </p:sp>
      <p:sp>
        <p:nvSpPr>
          <p:cNvPr id="12" name="Card3"/>
          <p:cNvSpPr/>
          <p:nvPr/>
        </p:nvSpPr>
        <p:spPr>
          <a:xfrm>
            <a:off x="365760" y="2377440"/>
            <a:ext cx="4114800" cy="109728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Icon3"/>
          <p:cNvSpPr/>
          <p:nvPr/>
        </p:nvSpPr>
        <p:spPr>
          <a:xfrm>
            <a:off x="5029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</a:p>
        </p:txBody>
      </p:sp>
      <p:sp>
        <p:nvSpPr>
          <p:cNvPr id="14" name="Label3"/>
          <p:cNvSpPr/>
          <p:nvPr/>
        </p:nvSpPr>
        <p:spPr>
          <a:xfrm>
            <a:off x="96012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</a:rPr>
              <a:t>Celery — Async AI Tasks</a:t>
            </a:r>
          </a:p>
        </p:txBody>
      </p:sp>
      <p:sp>
        <p:nvSpPr>
          <p:cNvPr id="15" name="Desc3"/>
          <p:cNvSpPr/>
          <p:nvPr/>
        </p:nvSpPr>
        <p:spPr>
          <a:xfrm>
            <a:off x="960120" y="278892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</a:rPr>
              <a:t>AI-ის გრძელი დამუშავება (image gen, embeddings) background task-ად გაშვება Celery-ით</a:t>
            </a:r>
          </a:p>
        </p:txBody>
      </p:sp>
      <p:sp>
        <p:nvSpPr>
          <p:cNvPr id="16" name="Card4"/>
          <p:cNvSpPr/>
          <p:nvPr/>
        </p:nvSpPr>
        <p:spPr>
          <a:xfrm>
            <a:off x="4800600" y="2377440"/>
            <a:ext cx="4114800" cy="109728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Icon4"/>
          <p:cNvSpPr/>
          <p:nvPr/>
        </p:nvSpPr>
        <p:spPr>
          <a:xfrm>
            <a:off x="49377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</a:p>
        </p:txBody>
      </p:sp>
      <p:sp>
        <p:nvSpPr>
          <p:cNvPr id="18" name="Label4"/>
          <p:cNvSpPr/>
          <p:nvPr/>
        </p:nvSpPr>
        <p:spPr>
          <a:xfrm>
            <a:off x="539496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</a:rPr>
              <a:t>Vector DB / RAG</a:t>
            </a:r>
          </a:p>
        </p:txBody>
      </p:sp>
      <p:sp>
        <p:nvSpPr>
          <p:cNvPr id="19" name="Desc4"/>
          <p:cNvSpPr/>
          <p:nvPr/>
        </p:nvSpPr>
        <p:spPr>
          <a:xfrm>
            <a:off x="5394960" y="278892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</a:rPr>
              <a:t>pgvector ORM-ით, Pinecone/Weaviate-ით — Django-ს RAG pipeline-ი სემანტიკური ძებნისთვის</a:t>
            </a:r>
          </a:p>
        </p:txBody>
      </p:sp>
      <p:sp>
        <p:nvSpPr>
          <p:cNvPr id="20" name="Card5"/>
          <p:cNvSpPr/>
          <p:nvPr/>
        </p:nvSpPr>
        <p:spPr>
          <a:xfrm>
            <a:off x="365760" y="3611880"/>
            <a:ext cx="4114800" cy="1097280"/>
          </a:xfrm>
          <a:prstGeom prst="rect">
            <a:avLst/>
          </a:prstGeom>
          <a:solidFill>
            <a:srgbClr val="F4F7F4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Icon5"/>
          <p:cNvSpPr/>
          <p:nvPr/>
        </p:nvSpPr>
        <p:spPr>
          <a:xfrm>
            <a:off x="5029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🤗</a:t>
            </a:r>
          </a:p>
        </p:txBody>
      </p:sp>
      <p:sp>
        <p:nvSpPr>
          <p:cNvPr id="22" name="Label5"/>
          <p:cNvSpPr/>
          <p:nvPr/>
        </p:nvSpPr>
        <p:spPr>
          <a:xfrm>
            <a:off x="960120" y="3703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</a:rPr>
              <a:t>HuggingFace Transformers</a:t>
            </a:r>
          </a:p>
        </p:txBody>
      </p:sp>
      <p:sp>
        <p:nvSpPr>
          <p:cNvPr id="23" name="Desc5"/>
          <p:cNvSpPr/>
          <p:nvPr/>
        </p:nvSpPr>
        <p:spPr>
          <a:xfrm>
            <a:off x="960120" y="4023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</a:rPr>
              <a:t>ლოკალური ML მოდელების (NLP, image classification) პირდაპირ Django-ში ჩატვირთვა</a:t>
            </a:r>
          </a:p>
        </p:txBody>
      </p:sp>
      <p:sp>
        <p:nvSpPr>
          <p:cNvPr id="24" name="Card6"/>
          <p:cNvSpPr/>
          <p:nvPr/>
        </p:nvSpPr>
        <p:spPr>
          <a:xfrm>
            <a:off x="4800600" y="3611880"/>
            <a:ext cx="4114800" cy="1097280"/>
          </a:xfrm>
          <a:prstGeom prst="rect">
            <a:avLst/>
          </a:prstGeom>
          <a:solidFill>
            <a:srgbClr val="E8F5F0"/>
          </a:solidFill>
          <a:ln w="12700">
            <a:solidFill>
              <a:srgbClr val="D1E8D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Icon6"/>
          <p:cNvSpPr/>
          <p:nvPr/>
        </p:nvSpPr>
        <p:spPr>
          <a:xfrm>
            <a:off x="493776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</a:p>
        </p:txBody>
      </p:sp>
      <p:sp>
        <p:nvSpPr>
          <p:cNvPr id="26" name="Label6"/>
          <p:cNvSpPr/>
          <p:nvPr/>
        </p:nvSpPr>
        <p:spPr>
          <a:xfrm>
            <a:off x="5394960" y="3703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B33"/>
                </a:solidFill>
                <a:latin typeface="Calibri" pitchFamily="34" charset="0"/>
              </a:rPr>
              <a:t>AI-powered Admin Panel</a:t>
            </a:r>
          </a:p>
        </p:txBody>
      </p:sp>
      <p:sp>
        <p:nvSpPr>
          <p:cNvPr id="27" name="Desc6"/>
          <p:cNvSpPr/>
          <p:nvPr/>
        </p:nvSpPr>
        <p:spPr>
          <a:xfrm>
            <a:off x="5394960" y="4023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</a:rPr>
              <a:t>ადმინ პანელის გაფართოება AI-ით — auto-tagging, anomaly detection, smart 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926</Words>
  <Application>Microsoft Office PowerPoint</Application>
  <PresentationFormat>On-screen Show (16:9)</PresentationFormat>
  <Paragraphs>272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- Python Web Framework</dc:title>
  <dc:subject>PptxGenJS Presentation</dc:subject>
  <dc:creator>PptxGenJS</dc:creator>
  <cp:lastModifiedBy>Lizi Dekanozishvili</cp:lastModifiedBy>
  <cp:revision>1</cp:revision>
  <dcterms:created xsi:type="dcterms:W3CDTF">2026-05-18T11:17:29Z</dcterms:created>
  <dcterms:modified xsi:type="dcterms:W3CDTF">2026-05-21T10:00:24Z</dcterms:modified>
</cp:coreProperties>
</file>